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AEROTRACK FULL-STACK ENGINEERING MASTERCLASS</a:t>
            </a:r>
          </a:p>
          <a:p>
            <a:pPr>
              <a:spcAft>
                <a:spcPts val="1400"/>
              </a:spcAft>
              <a:defRPr sz="3400" b="1">
                <a:solidFill>
                  <a:srgbClr val="F8FAFC"/>
                </a:solidFill>
              </a:defRPr>
            </a:pPr>
            <a:r>
              <a:t>Complete Architecture, Git Evolution, Mathematics &amp; Code Handbook</a:t>
            </a:r>
          </a:p>
          <a:p>
            <a:pPr>
              <a:spcAft>
                <a:spcPts val="2500"/>
              </a:spcAft>
              <a:defRPr sz="1400">
                <a:solidFill>
                  <a:srgbClr val="94A3B8"/>
                </a:solidFill>
              </a:defRPr>
            </a:pPr>
            <a:r>
              <a:t>Real-Time Atmospheric Telemetry • Autoregressive XGBoost 24h Forecasting • Split Conformal Prediction • Dual-Layer Caching • Complete 31-Commit Evolution Post-Mortem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Author: Aniket Mohanty (25BCE5816) | Production: aerotrack-three.vercel.app | API: aerotrack-backend-1tlt.onrender.com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System Philosophy, Goals &amp; Key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Project Mission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Core Problem: </a:t>
            </a:r>
            <a:r>
              <a:rPr sz="1100">
                <a:solidFill>
                  <a:srgbClr val="94A3B8"/>
                </a:solidFill>
              </a:rPr>
              <a:t>Commercial air quality APIs charge high subscription fees, enforce strict rate limits, and provide no on-demand local ML forecasting.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AeroTrack Solution: </a:t>
            </a:r>
            <a:r>
              <a:rPr sz="1100">
                <a:solidFill>
                  <a:srgbClr val="94A3B8"/>
                </a:solidFill>
              </a:rPr>
              <a:t>A high-precision, 100% free, universal air monitoring platform combining reanalysis models with on-demand local ML.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Key Target: </a:t>
            </a:r>
            <a:r>
              <a:rPr sz="1100">
                <a:solidFill>
                  <a:srgbClr val="94A3B8"/>
                </a:solidFill>
              </a:rPr>
              <a:t>Sub-second live telemetry for any lat/lon coordinate on Earth, with 24-hour autoregressive hourly machine learning forecasts.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Accuracy: </a:t>
            </a:r>
            <a:r>
              <a:rPr sz="1100">
                <a:solidFill>
                  <a:srgbClr val="94A3B8"/>
                </a:solidFill>
              </a:rPr>
              <a:t>Eliminates LLM generative hallucinations using deterministic US EPA breakpoints and physics-based weather coupling.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Core Capabilities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Global Telemetry: </a:t>
            </a:r>
            <a:r>
              <a:rPr sz="1100">
                <a:solidFill>
                  <a:srgbClr val="94A3B8"/>
                </a:solidFill>
              </a:rPr>
              <a:t>Real-time 6 criteria pollutants: PM2.5, PM10, NO2, SO2, O3, CO with US EPA &amp; European AQI indexes.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Interactive Geospatial Map: </a:t>
            </a:r>
            <a:r>
              <a:rPr sz="1100">
                <a:solidFill>
                  <a:srgbClr val="94A3B8"/>
                </a:solidFill>
              </a:rPr>
              <a:t>Click-to-query Leaflet map with reverse geocoding to resolve any coordinate into localized telemetry.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7-Day Trend Analytics: </a:t>
            </a:r>
            <a:r>
              <a:rPr sz="1100">
                <a:solidFill>
                  <a:srgbClr val="94A3B8"/>
                </a:solidFill>
              </a:rPr>
              <a:t>Visualizes hourly trajectories against WHO Safe (15 µg/m³) and US EPA Caution (35.5 µg/m³) standards.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On-Demand ML Training: </a:t>
            </a:r>
            <a:r>
              <a:rPr sz="1100">
                <a:solidFill>
                  <a:srgbClr val="94A3B8"/>
                </a:solidFill>
              </a:rPr>
              <a:t>XGBoost trains dynamically in &lt;1.2s per location with 92 historical days of localized atmospheric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Production Standards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Two-Tier Caching: </a:t>
            </a:r>
            <a:r>
              <a:rPr sz="1100">
                <a:solidFill>
                  <a:srgbClr val="94A3B8"/>
                </a:solidFill>
              </a:rPr>
              <a:t>10-minute cache for shared telemetry/trends, 30-minute cache for trained XGBoost models with LRU eviction.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Concurrency Lock: </a:t>
            </a:r>
            <a:r>
              <a:rPr sz="1100">
                <a:solidFill>
                  <a:srgbClr val="94A3B8"/>
                </a:solidFill>
              </a:rPr>
              <a:t>In-flight task deduplication ensures concurrent identical requests share a single upstream network call.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Zero Stalls: </a:t>
            </a:r>
            <a:r>
              <a:rPr sz="1100">
                <a:solidFill>
                  <a:srgbClr val="94A3B8"/>
                </a:solidFill>
              </a:rPr>
              <a:t>Async CPU-bound offloading via concurrent.futures ThreadPool avoids blocking the FastAPI async event loop.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Conformal Uncertainty: </a:t>
            </a:r>
            <a:r>
              <a:rPr sz="1100">
                <a:solidFill>
                  <a:srgbClr val="94A3B8"/>
                </a:solidFill>
              </a:rPr>
              <a:t>Distribution-free 90% confidence bands guarantee mathematical calibration over heuristic guesses.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End-to-End System Components &amp;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Client Layer (Frontend)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Tech Stack: </a:t>
            </a:r>
            <a:r>
              <a:rPr sz="1100">
                <a:solidFill>
                  <a:srgbClr val="94A3B8"/>
                </a:solidFill>
              </a:rPr>
              <a:t>React 18 + TypeScript + Vite + Tailwind CSS + Leaflet + Recharts.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Deployment: </a:t>
            </a:r>
            <a:r>
              <a:rPr sz="1100">
                <a:solidFill>
                  <a:srgbClr val="94A3B8"/>
                </a:solidFill>
              </a:rPr>
              <a:t>Vercel Edge Network with global CDN caching and HTTPS.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State Management: </a:t>
            </a:r>
            <a:r>
              <a:rPr sz="1100">
                <a:solidFill>
                  <a:srgbClr val="94A3B8"/>
                </a:solidFill>
              </a:rPr>
              <a:t>Autonomous React state, Axios request cancelation (AbortController), and reqId race-condition protection.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UI Modules: </a:t>
            </a:r>
            <a:r>
              <a:rPr sz="1100">
                <a:solidFill>
                  <a:srgbClr val="94A3B8"/>
                </a:solidFill>
              </a:rPr>
              <a:t>SearchBar with Nominatim autocomplete, Interactive AirMap, PollutantCards, 7-Day TrendChart, 24h ForecastChart.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API &amp; Engine Layer (Backend)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Framework: </a:t>
            </a:r>
            <a:r>
              <a:rPr sz="1100">
                <a:solidFill>
                  <a:srgbClr val="94A3B8"/>
                </a:solidFill>
              </a:rPr>
              <a:t>FastAPI (Python 3.10+) running asynchronously under Uvicorn ASGI.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Hosting: </a:t>
            </a:r>
            <a:r>
              <a:rPr sz="1100">
                <a:solidFill>
                  <a:srgbClr val="94A3B8"/>
                </a:solidFill>
              </a:rPr>
              <a:t>Render Cloud container, kept continuously warm 24/7 via UptimeRobot health check pings.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Core Responsibilities: </a:t>
            </a:r>
            <a:r>
              <a:rPr sz="1100">
                <a:solidFill>
                  <a:srgbClr val="94A3B8"/>
                </a:solidFill>
              </a:rPr>
              <a:t>Coordinate normalization (4 decimals), AQI piecewise linear engine, cache management, telemetry cleansing.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ML Pipeline: </a:t>
            </a:r>
            <a:r>
              <a:rPr sz="1100">
                <a:solidFill>
                  <a:srgbClr val="94A3B8"/>
                </a:solidFill>
              </a:rPr>
              <a:t>Dynamic XGBoost model training and multi-step recursive forecasting on isolated worker threads.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Data &amp; Modeling Providers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Open-Meteo Air Quality: </a:t>
            </a:r>
            <a:r>
              <a:rPr sz="1100">
                <a:solidFill>
                  <a:srgbClr val="94A3B8"/>
                </a:solidFill>
              </a:rPr>
              <a:t>CAMS (Copernicus Atmosphere Monitoring Service) global atmospheric model for 6 criteria pollutants.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Open-Meteo Weather: </a:t>
            </a:r>
            <a:r>
              <a:rPr sz="1100">
                <a:solidFill>
                  <a:srgbClr val="94A3B8"/>
                </a:solidFill>
              </a:rPr>
              <a:t>ECMWF &amp; GFS numerical weather forecasts: Temperature (2m), Relative Humidity (2m), Surface Wind Speed (10m).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Nominatim (OSM): </a:t>
            </a:r>
            <a:r>
              <a:rPr sz="1100">
                <a:solidFill>
                  <a:srgbClr val="94A3B8"/>
                </a:solidFill>
              </a:rPr>
              <a:t>OpenStreetMap geocoding for text queries and primary GPS reverse geocoding.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BigDataCloud: </a:t>
            </a:r>
            <a:r>
              <a:rPr sz="1100">
                <a:solidFill>
                  <a:srgbClr val="94A3B8"/>
                </a:solidFill>
              </a:rPr>
              <a:t>Fast, rate-limit resilient secondary reverse geocoding fallback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GIT EVOLUTION: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Commit History Analysis: Repository Scaffolding &amp; Core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Early Scaffolding &amp; DevOps (Commits 1-7)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2f006cd (Initial commit): </a:t>
            </a:r>
            <a:r>
              <a:rPr sz="1100">
                <a:solidFill>
                  <a:srgbClr val="94A3B8"/>
                </a:solidFill>
              </a:rPr>
              <a:t>Initialized full-stack project skeleton with React 18 frontend and FastAPI backend.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99c707d (Move render.yaml): </a:t>
            </a:r>
            <a:r>
              <a:rPr sz="1100">
                <a:solidFill>
                  <a:srgbClr val="94A3B8"/>
                </a:solidFill>
              </a:rPr>
              <a:t>Moved Render Blueprint to root directory so Render Cloud auto-detects build/start configuration.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2f39c76 (Production env config): </a:t>
            </a:r>
            <a:r>
              <a:rPr sz="1100">
                <a:solidFill>
                  <a:srgbClr val="94A3B8"/>
                </a:solidFill>
              </a:rPr>
              <a:t>Added frontend/.env.production injecting production API URL into Vite at build time.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abdc979 &amp; b286544 (Docs fixes): </a:t>
            </a:r>
            <a:r>
              <a:rPr sz="1100">
                <a:solidFill>
                  <a:srgbClr val="94A3B8"/>
                </a:solidFill>
              </a:rPr>
              <a:t>Replaced raw LaTeX in README with Unicode (µg/m³, —) for universal markdown rendering.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bcaffb8 (UptimeRobot doc sync): </a:t>
            </a:r>
            <a:r>
              <a:rPr sz="1100">
                <a:solidFill>
                  <a:srgbClr val="94A3B8"/>
                </a:solidFill>
              </a:rPr>
              <a:t>Documented 5-minute health check ping strategy preventing Render free-tier container sleep.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19736d6 (Geocode redirects): </a:t>
            </a:r>
            <a:r>
              <a:rPr sz="1100">
                <a:solidFill>
                  <a:srgbClr val="94A3B8"/>
                </a:solidFill>
              </a:rPr>
              <a:t>Configured HTTPX client to follow 301/302 redirects during Nominatim location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UI Responsiveness &amp; Data Provenance (Commits 8-11)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68cd0ca (Instant map popup): </a:t>
            </a:r>
            <a:r>
              <a:rPr sz="1100">
                <a:solidFill>
                  <a:srgbClr val="94A3B8"/>
                </a:solidFill>
              </a:rPr>
              <a:t>Eliminated UX click lag by instantly opening Leaflet popup in 'Calculating...' state before network returns.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4075033 (Nominatim English): </a:t>
            </a:r>
            <a:r>
              <a:rPr sz="1100">
                <a:solidFill>
                  <a:srgbClr val="94A3B8"/>
                </a:solidFill>
              </a:rPr>
              <a:t>Enforced English localization headers (accept-language: en) to avoid mixed-script foreign city names.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7dd1bf0 (Regex sanitization): </a:t>
            </a:r>
            <a:r>
              <a:rPr sz="1100">
                <a:solidFill>
                  <a:srgbClr val="94A3B8"/>
                </a:solidFill>
              </a:rPr>
              <a:t>Added regex cleansing to strip invalid characters and clean place names returned from geocoders.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ef13ea8 (Enforce provenance): </a:t>
            </a:r>
            <a:r>
              <a:rPr sz="1100">
                <a:solidFill>
                  <a:srgbClr val="94A3B8"/>
                </a:solidFill>
              </a:rPr>
              <a:t>Removed deceptive synthetic sin-wave fallback; enforced strict data provenance with explicit error models.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ab46fdb (Trend pipeline fix): </a:t>
            </a:r>
            <a:r>
              <a:rPr sz="1100">
                <a:solidFill>
                  <a:srgbClr val="94A3B8"/>
                </a:solidFill>
              </a:rPr>
              <a:t>Separated true historical observations from future provider forecasts; normalized UTC timestamps.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Impact: </a:t>
            </a:r>
            <a:r>
              <a:rPr sz="1100">
                <a:solidFill>
                  <a:srgbClr val="94A3B8"/>
                </a:solidFill>
              </a:rPr>
              <a:t>Established rigorous scientific data standards and sub-second UI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GIT EVOLUTION: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Commit History Analysis: ML Evaluation, Split Conformal &amp; Vectorization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Scientific Accuracy &amp; Offline Benchmarks (Commits 12-16)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748bc04 (Reproducible evaluation): </a:t>
            </a:r>
            <a:r>
              <a:rPr sz="1100">
                <a:solidFill>
                  <a:srgbClr val="94A3B8"/>
                </a:solidFill>
              </a:rPr>
              <a:t>Created backend/evaluate_model.py; benchmarked XGBoost vs persistence across 5 climate zones to prove accuracy.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222a3f9 (Split Conformal Intervals): </a:t>
            </a:r>
            <a:r>
              <a:rPr sz="1100">
                <a:solidFill>
                  <a:srgbClr val="94A3B8"/>
                </a:solidFill>
              </a:rPr>
              <a:t>Replaced heuristic ±1.96σ Gaussian bands with non-parametric Split Conformal Prediction (90% calibrated coverage).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4ecd729 (Vectorized rollout loops): </a:t>
            </a:r>
            <a:r>
              <a:rPr sz="1100">
                <a:solidFill>
                  <a:srgbClr val="94A3B8"/>
                </a:solidFill>
              </a:rPr>
              <a:t>Vectorized recursive feature generation using NumPy; reduced training + 24h rollout time from 3.5s to &lt;1.2s.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84833df (Exclude provider forecasts): </a:t>
            </a:r>
            <a:r>
              <a:rPr sz="1100">
                <a:solidFill>
                  <a:srgbClr val="94A3B8"/>
                </a:solidFill>
              </a:rPr>
              <a:t>Fixed target leakage in offline benchmark: ensured evaluation test set uses verified ground reanalysis.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8a976db (Timedelta import &amp; eval doc): </a:t>
            </a:r>
            <a:r>
              <a:rPr sz="1100">
                <a:solidFill>
                  <a:srgbClr val="94A3B8"/>
                </a:solidFill>
              </a:rPr>
              <a:t>Fixed evaluation datetime math and committed comprehensive multi-city EVALUATION_REPORT.md.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Key Finding: </a:t>
            </a:r>
            <a:r>
              <a:rPr sz="1100">
                <a:solidFill>
                  <a:srgbClr val="94A3B8"/>
                </a:solidFill>
              </a:rPr>
              <a:t>XGBoost consistently achieved 32% - 48% MAE reduction over persistence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Concurrency, Caching &amp; Race Conditions (Commits 17-21)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f46b7fa (Clear stale AQI on click): </a:t>
            </a:r>
            <a:r>
              <a:rPr sz="1100">
                <a:solidFill>
                  <a:srgbClr val="94A3B8"/>
                </a:solidFill>
              </a:rPr>
              <a:t>Prevented visual confusion by immediately wiping previous city's AQI from UI when a new map point is selected.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c96f721 (Reverse geocode &amp; deduplication): </a:t>
            </a:r>
            <a:r>
              <a:rPr sz="1100">
                <a:solidFill>
                  <a:srgbClr val="94A3B8"/>
                </a:solidFill>
              </a:rPr>
              <a:t>Added 24h reverse geocode cache and in-flight Promise deduplication to collapse concurrent duplicate requests.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2c4c3d7 (Resolve click race condition): </a:t>
            </a:r>
            <a:r>
              <a:rPr sz="1100">
                <a:solidFill>
                  <a:srgbClr val="94A3B8"/>
                </a:solidFill>
              </a:rPr>
              <a:t>Added monotonic reqIdRef guard in App.tsx: stale async network responses from earlier clicks are discarded.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9497b8c (Bundle frontend assets): </a:t>
            </a:r>
            <a:r>
              <a:rPr sz="1100">
                <a:solidFill>
                  <a:srgbClr val="94A3B8"/>
                </a:solidFill>
              </a:rPr>
              <a:t>Generated production Vite bundle with chunk hashing for fast client caching.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78e4d0b &amp; acadc7b (Decouple static mounts): </a:t>
            </a:r>
            <a:r>
              <a:rPr sz="1100">
                <a:solidFill>
                  <a:srgbClr val="94A3B8"/>
                </a:solidFill>
              </a:rPr>
              <a:t>Removed legacy static HTML mounts from FastAPI; converted root route to pure JSON API manifest.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Impact: </a:t>
            </a:r>
            <a:r>
              <a:rPr sz="1100">
                <a:solidFill>
                  <a:srgbClr val="94A3B8"/>
                </a:solidFill>
              </a:rPr>
              <a:t>Eliminated state corruption from rapid user clicks and stabilized API gateway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GIT EVOLUTION: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Commit History Analysis: Thread Pools, EPA 35.5, and The &gt;500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System Stabilization &amp; EPA Precision (Commits 22-26)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98d9f73 (Remove duplicate route): </a:t>
            </a:r>
            <a:r>
              <a:rPr sz="1100">
                <a:solidFill>
                  <a:srgbClr val="94A3B8"/>
                </a:solidFill>
              </a:rPr>
              <a:t>Cleaned FastAPI route registry; verified endpoint manifest with automated tests.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e27cfa9 (EPA 35.5 &amp; dynamic weather): </a:t>
            </a:r>
            <a:r>
              <a:rPr sz="1100">
                <a:solidFill>
                  <a:srgbClr val="94A3B8"/>
                </a:solidFill>
              </a:rPr>
              <a:t>Corrected EPA Caution boundary to strictly 35.5 µg/m³; dynamically injected future forecasted weather into ML loop.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ee4ce39 (Multi-tier reverse geocoding): </a:t>
            </a:r>
            <a:r>
              <a:rPr sz="1100">
                <a:solidFill>
                  <a:srgbClr val="94A3B8"/>
                </a:solidFill>
              </a:rPr>
              <a:t>Added BigDataCloud fallback when Nominatim rate limits; implemented causal forward-fill imputation.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d2b5bcd (Non-blocking ML thread pool): </a:t>
            </a:r>
            <a:r>
              <a:rPr sz="1100">
                <a:solidFill>
                  <a:srgbClr val="94A3B8"/>
                </a:solidFill>
              </a:rPr>
              <a:t>Offloaded CPU-bound XGBoost training to concurrent.futures.ThreadPoolExecutor(max_workers=4), ending UI stalls.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a372f1f (Ignore PDF &amp; HTML reports): </a:t>
            </a:r>
            <a:r>
              <a:rPr sz="1100">
                <a:solidFill>
                  <a:srgbClr val="94A3B8"/>
                </a:solidFill>
              </a:rPr>
              <a:t>Configured .gitignore to strictly ignore report artifacts (*.html, *.pdf, *.pptx) from Git tracking.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Impact: </a:t>
            </a:r>
            <a:r>
              <a:rPr sz="1100">
                <a:solidFill>
                  <a:srgbClr val="94A3B8"/>
                </a:solidFill>
              </a:rPr>
              <a:t>FastAPI event loop responsiveness maintained under heavy concurrent ML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The &gt;500 Bug &amp; UI Freshness (Commits 27-31)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681146c (Clamp AQI at 500 &amp; strict TTL): </a:t>
            </a:r>
            <a:r>
              <a:rPr sz="1100">
                <a:solidFill>
                  <a:srgbClr val="94A3B8"/>
                </a:solidFill>
              </a:rPr>
              <a:t>Fixed invalid Open-Meteo values (538, 1055, 1769) by clamping at EPA scale maximum 500; added MAX_CACHE_SIZE=500 LRU eviction.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a581ebf (AQI capped badge in UI): </a:t>
            </a:r>
            <a:r>
              <a:rPr sz="1100">
                <a:solidFill>
                  <a:srgbClr val="94A3B8"/>
                </a:solidFill>
              </a:rPr>
              <a:t>Added amber 'EPA Scale Max (Capped at 500)' badge in PollutantCards.tsx so users know when pollution is off-scale.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4eafc4b (Explicit sensor timestamp): </a:t>
            </a:r>
            <a:r>
              <a:rPr sz="1100">
                <a:solidFill>
                  <a:srgbClr val="94A3B8"/>
                </a:solidFill>
              </a:rPr>
              <a:t>Resolved 'stuck AQI' perception by exposing Open-Meteo's exact update timestamp ('Data from: Oct 10, 5:30 PM') on screen.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Rollback Post-Mortem: </a:t>
            </a:r>
            <a:r>
              <a:rPr sz="1100">
                <a:solidFill>
                  <a:srgbClr val="94A3B8"/>
                </a:solidFill>
              </a:rPr>
              <a:t>Tested WAQI ground sensors; when WAQI caused timeouts and missing rural stations, cleanly rolled back to pure Open-Meteo.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Cache-Buster Lessons: </a:t>
            </a:r>
            <a:r>
              <a:rPr sz="1100">
                <a:solidFill>
                  <a:srgbClr val="94A3B8"/>
                </a:solidFill>
              </a:rPr>
              <a:t>Diagnosed Vercel/Render monorepo watcher rules: directory-specific commits required to trigger fresh builds.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Outcome: </a:t>
            </a:r>
            <a:r>
              <a:rPr sz="1100">
                <a:solidFill>
                  <a:srgbClr val="94A3B8"/>
                </a:solidFill>
              </a:rPr>
              <a:t>A fully mature, mathematically sound, enterprise-ready atmospheric intelligence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MATHEMATICAL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US EPA AQI Mathematics, Breakpoints &amp; The 500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US EPA Piecewise Linear Formula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Official Equation: </a:t>
            </a:r>
            <a:r>
              <a:rPr sz="1100">
                <a:solidFill>
                  <a:srgbClr val="94A3B8"/>
                </a:solidFill>
              </a:rPr>
              <a:t>AQI = [(I_high - I_low) / (C_high - C_low)] * (C - C_low) + I_low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 (Concentration): </a:t>
            </a:r>
            <a:r>
              <a:rPr sz="1100">
                <a:solidFill>
                  <a:srgbClr val="94A3B8"/>
                </a:solidFill>
              </a:rPr>
              <a:t>Truncated/rounded raw concentration of the specific pollutant.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[C_low, C_high]: </a:t>
            </a:r>
            <a:r>
              <a:rPr sz="1100">
                <a:solidFill>
                  <a:srgbClr val="94A3B8"/>
                </a:solidFill>
              </a:rPr>
              <a:t>Concentration breakpoint bracket containing concentration C.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[I_low, I_high]: </a:t>
            </a:r>
            <a:r>
              <a:rPr sz="1100">
                <a:solidFill>
                  <a:srgbClr val="94A3B8"/>
                </a:solidFill>
              </a:rPr>
              <a:t>Corresponding index bracket (e.g. 0-50, 51-100, 101-150, 151-200, 201-300, 301-500).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Composite Overall AQI: </a:t>
            </a:r>
            <a:r>
              <a:rPr sz="1100">
                <a:solidFill>
                  <a:srgbClr val="94A3B8"/>
                </a:solidFill>
              </a:rPr>
              <a:t>Overall AQI = max(AQI_PM2.5, AQI_PM10, AQI_O3, AQI_NO2, AQI_SO2, AQI_CO).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Governing Principle: </a:t>
            </a:r>
            <a:r>
              <a:rPr sz="1100">
                <a:solidFill>
                  <a:srgbClr val="94A3B8"/>
                </a:solidFill>
              </a:rPr>
              <a:t>Air quality is only as safe as the single worst pollutant present.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The &gt;500 AQI Bug &amp; Engineering Fix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Bug Phenomenon: </a:t>
            </a:r>
            <a:r>
              <a:rPr sz="1100">
                <a:solidFill>
                  <a:srgbClr val="94A3B8"/>
                </a:solidFill>
              </a:rPr>
              <a:t>Open-Meteo returned invalid AQI values like 538, 1055, or 1769 in severe pollution events (Delhi, Gurgaon).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Root Cause: </a:t>
            </a:r>
            <a:r>
              <a:rPr sz="1100">
                <a:solidFill>
                  <a:srgbClr val="94A3B8"/>
                </a:solidFill>
              </a:rPr>
              <a:t>Upstream API linearly extrapolated the formula beyond the EPA table instead of capping at the official ceiling.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Mathematical Reality: </a:t>
            </a:r>
            <a:r>
              <a:rPr sz="1100">
                <a:solidFill>
                  <a:srgbClr val="94A3B8"/>
                </a:solidFill>
              </a:rPr>
              <a:t>The official EPA scale terminates at 500 (Hazardous). Values &gt; 500 do not exist in the scientific standard.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Backend Clamping: </a:t>
            </a:r>
            <a:r>
              <a:rPr sz="1100">
                <a:solidFill>
                  <a:srgbClr val="94A3B8"/>
                </a:solidFill>
              </a:rPr>
              <a:t>us_aqi = min(500, us_aqi) and european_aqi = min(500, european_aqi) enforced immediately upon retrieval.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Flagging &amp; UI Transparency: </a:t>
            </a:r>
            <a:r>
              <a:rPr sz="1100">
                <a:solidFill>
                  <a:srgbClr val="94A3B8"/>
                </a:solidFill>
              </a:rPr>
              <a:t>Added is_capped: bool and us_aqi_capped: bool in API response; frontend displays amber 'EPA Scale Max (Capped at 500)' badge.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Impact: </a:t>
            </a:r>
            <a:r>
              <a:rPr sz="1100">
                <a:solidFill>
                  <a:srgbClr val="94A3B8"/>
                </a:solidFill>
              </a:rPr>
              <a:t>Eliminates mathematically impossible figures while transparently alerting users of extreme pollution.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BACKEND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FastAPI Architecture, Async I/O &amp; Thread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FastAPI Asynchronous Design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ASGI Event Loop: </a:t>
            </a:r>
            <a:r>
              <a:rPr sz="1100">
                <a:solidFill>
                  <a:srgbClr val="94A3B8"/>
                </a:solidFill>
              </a:rPr>
              <a:t>Built on Starlette + Uvicorn with async/await patterns for non-blocking I/O operations.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Async HTTPX Client: </a:t>
            </a:r>
            <a:r>
              <a:rPr sz="1100">
                <a:solidFill>
                  <a:srgbClr val="94A3B8"/>
                </a:solidFill>
              </a:rPr>
              <a:t>Upstream HTTP queries to Open-Meteo, Nominatim, and BigDataCloud utilize httpx.AsyncClient with strict timeouts (10s).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CORS Security: </a:t>
            </a:r>
            <a:r>
              <a:rPr sz="1100">
                <a:solidFill>
                  <a:srgbClr val="94A3B8"/>
                </a:solidFill>
              </a:rPr>
              <a:t>FastAPI CORSMiddleware configured with explicit origins, credentials support, and permissive local dev fallback.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Centralized Error Handling: </a:t>
            </a:r>
            <a:r>
              <a:rPr sz="1100">
                <a:solidFill>
                  <a:srgbClr val="94A3B8"/>
                </a:solidFill>
              </a:rPr>
              <a:t>HTTPException mappings convert upstream network failures into standardized 400, 502, 504 status codes.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Uptime Warmup: </a:t>
            </a:r>
            <a:r>
              <a:rPr sz="1100">
                <a:solidFill>
                  <a:srgbClr val="94A3B8"/>
                </a:solidFill>
              </a:rPr>
              <a:t>Lightweight /api/health endpoint executes with zero database or external network overhead, returning in &lt;5ms.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Preventing Event Loop Starvation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Concurrency Trap: </a:t>
            </a:r>
            <a:r>
              <a:rPr sz="1100">
                <a:solidFill>
                  <a:srgbClr val="94A3B8"/>
                </a:solidFill>
              </a:rPr>
              <a:t>XGBoost model training, NumPy array matrix transformations, and Pandas dataframe reshaping are CPU-bound.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Danger: </a:t>
            </a:r>
            <a:r>
              <a:rPr sz="1100">
                <a:solidFill>
                  <a:srgbClr val="94A3B8"/>
                </a:solidFill>
              </a:rPr>
              <a:t>Running heavy matrix operations inside an async def FastAPI route freezes the single Python event loop, blocking all users.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ThreadPool Solution: </a:t>
            </a:r>
            <a:r>
              <a:rPr sz="1100">
                <a:solidFill>
                  <a:srgbClr val="94A3B8"/>
                </a:solidFill>
              </a:rPr>
              <a:t>Offloaded CPU-heavy training to a dedicated concurrent.futures.ThreadPoolExecutor(max_workers=4).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asyncio.to_thread: </a:t>
            </a:r>
            <a:r>
              <a:rPr sz="1100">
                <a:solidFill>
                  <a:srgbClr val="94A3B8"/>
                </a:solidFill>
              </a:rPr>
              <a:t>FastAPI awaits loop.run_in_executor(THREAD_POOL, train_and_forecast_worker, ...), keeping event loop responsive.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Result: </a:t>
            </a:r>
            <a:r>
              <a:rPr sz="1100">
                <a:solidFill>
                  <a:srgbClr val="94A3B8"/>
                </a:solidFill>
              </a:rPr>
              <a:t>Backend continues serving /api/health and /api/air-quality in 5ms even while 4 concurrent XGBoost models are actively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BACKEND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Two-Tier Caching &amp; In-Flight Promise Collapsing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Two-Tier Cache Strategy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SHARED_AIR_CACHE: </a:t>
            </a:r>
            <a:r>
              <a:rPr sz="1100">
                <a:solidFill>
                  <a:srgbClr val="94A3B8"/>
                </a:solidFill>
              </a:rPr>
              <a:t>Caches Open-Meteo raw atmospheric payloads for (lat, lon) with 10-minute TTL (CACHE_TTL_AIR_SECONDS = 600).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Cross-Endpoint Sharing: </a:t>
            </a:r>
            <a:r>
              <a:rPr sz="1100">
                <a:solidFill>
                  <a:srgbClr val="94A3B8"/>
                </a:solidFill>
              </a:rPr>
              <a:t>Both /api/air-quality and /api/trends share this cache, reducing upstream Open-Meteo requests by 50%.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MODEL_CACHE: </a:t>
            </a:r>
            <a:r>
              <a:rPr sz="1100">
                <a:solidFill>
                  <a:srgbClr val="94A3B8"/>
                </a:solidFill>
              </a:rPr>
              <a:t>Caches trained XGBoost prediction artifacts for (lat, lon) with 30-minute TTL (CACHE_TTL_MODEL_SECONDS = 1800).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LRU Eviction Policy: </a:t>
            </a:r>
            <a:r>
              <a:rPr sz="1100">
                <a:solidFill>
                  <a:srgbClr val="94A3B8"/>
                </a:solidFill>
              </a:rPr>
              <a:t>Both caches enforce MAX_CACHE_SIZE = 500. When limit is exceeded, the entry with the oldest timestamp is automatically evicted.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Admin Invalidation: </a:t>
            </a:r>
            <a:r>
              <a:rPr sz="1100">
                <a:solidFill>
                  <a:srgbClr val="94A3B8"/>
                </a:solidFill>
              </a:rPr>
              <a:t>GET /api/admin/clear-cache allows immediate cache eviction for testing or diagnostic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In-Flight Request Deduplication (Thundering Herd)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Problem: </a:t>
            </a:r>
            <a:r>
              <a:rPr sz="1100">
                <a:solidFill>
                  <a:srgbClr val="94A3B8"/>
                </a:solidFill>
              </a:rPr>
              <a:t>When a user selects a location, frontend fires /api/air-quality and /api/trends simultaneously for identical coordinates.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Without Deduplication: </a:t>
            </a:r>
            <a:r>
              <a:rPr sz="1100">
                <a:solidFill>
                  <a:srgbClr val="94A3B8"/>
                </a:solidFill>
              </a:rPr>
              <a:t>Two concurrent requests both detect a cache miss and execute two identical upstream Open-Meteo calls in parallel.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In-Flight Promise Collapsing: </a:t>
            </a:r>
            <a:r>
              <a:rPr sz="1100">
                <a:solidFill>
                  <a:srgbClr val="94A3B8"/>
                </a:solidFill>
              </a:rPr>
              <a:t>IN_FLIGHT_AIR_REQUESTS: Dict[tuple, asyncio.Task] tracks currently running fetch tasks by (lat, lon) cache key.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Execution Flow: </a:t>
            </a:r>
            <a:r>
              <a:rPr sz="1100">
                <a:solidFill>
                  <a:srgbClr val="94A3B8"/>
                </a:solidFill>
              </a:rPr>
              <a:t>Request A starts fetch task and registers it. Request B sees existing task and awaits it directly.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Result: </a:t>
            </a:r>
            <a:r>
              <a:rPr sz="1100">
                <a:solidFill>
                  <a:srgbClr val="94A3B8"/>
                </a:solidFill>
              </a:rPr>
              <a:t>Zero redundant upstream network calls; both endpoints receive the fresh response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On-Demand XGBoost Architecture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XGBoost Model Architecture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Model Class: </a:t>
            </a:r>
            <a:r>
              <a:rPr sz="1100">
                <a:solidFill>
                  <a:srgbClr val="94A3B8"/>
                </a:solidFill>
              </a:rPr>
              <a:t>xgboost.XGBRegressor with tree_method='hist' for ultra-fast CPU histogram binning.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Hyperparameters: </a:t>
            </a:r>
            <a:r>
              <a:rPr sz="1100">
                <a:solidFill>
                  <a:srgbClr val="94A3B8"/>
                </a:solidFill>
              </a:rPr>
              <a:t>n_estimators=120, max_depth=4, learning_rate=0.08, subsample=0.85, colsample_bytree=0.85, reg_alpha=0.1, reg_lambda=1.0.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Training Window: </a:t>
            </a:r>
            <a:r>
              <a:rPr sz="1100">
                <a:solidFill>
                  <a:srgbClr val="94A3B8"/>
                </a:solidFill>
              </a:rPr>
              <a:t>Past 92 historical days (~2,208 hourly records) fetched dynamically from Open-Meteo.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Target Variable: </a:t>
            </a:r>
            <a:r>
              <a:rPr sz="1100">
                <a:solidFill>
                  <a:srgbClr val="94A3B8"/>
                </a:solidFill>
              </a:rPr>
              <a:t>Hourly PM2.5 concentration (µg/m³), the primary global criteria health hazard.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Speed Benchmark: </a:t>
            </a:r>
            <a:r>
              <a:rPr sz="1100">
                <a:solidFill>
                  <a:srgbClr val="94A3B8"/>
                </a:solidFill>
              </a:rPr>
              <a:t>Feature engineering + training completes in under 1.2 seconds on standard 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Time-Series Feature Engineering Matrix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Autoregressive Lags: </a:t>
            </a:r>
            <a:r>
              <a:rPr sz="1100">
                <a:solidFill>
                  <a:srgbClr val="94A3B8"/>
                </a:solidFill>
              </a:rPr>
              <a:t>Captures immediate persistence via past 1h, 2h, 3h, 6h, 12h, 24h, 48h PM2.5 lag features.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Rolling Statistics: </a:t>
            </a:r>
            <a:r>
              <a:rPr sz="1100">
                <a:solidFill>
                  <a:srgbClr val="94A3B8"/>
                </a:solidFill>
              </a:rPr>
              <a:t>Rolling mean and rolling standard deviation over 6h, 12h, and 24h historical windows.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Cyclical Time Encoding: </a:t>
            </a:r>
            <a:r>
              <a:rPr sz="1100">
                <a:solidFill>
                  <a:srgbClr val="94A3B8"/>
                </a:solidFill>
              </a:rPr>
              <a:t>Hour of day (0-23) transformed into sin_hour = sin(2*pi*h/24) and cos_hour = cos(2*pi*h/24). Prevents 23h and 00h boundary jumps.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Day of Week Encoding: </a:t>
            </a:r>
            <a:r>
              <a:rPr sz="1100">
                <a:solidFill>
                  <a:srgbClr val="94A3B8"/>
                </a:solidFill>
              </a:rPr>
              <a:t>sin_day = sin(2*pi*d/7) and cos_day = cos(2*pi*d/7) to model weekday vs weekend traffic variations.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Weather Coupling: </a:t>
            </a:r>
            <a:r>
              <a:rPr sz="1100">
                <a:solidFill>
                  <a:srgbClr val="94A3B8"/>
                </a:solidFill>
              </a:rPr>
              <a:t>Coupled dynamically with 2m Temperature, 2m Relative Humidity, and 10m Surface Wind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Autoregressive Recursive Multi-Step Forecast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Recursive Forecasting Mechanics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Challenge: </a:t>
            </a:r>
            <a:r>
              <a:rPr sz="1100">
                <a:solidFill>
                  <a:srgbClr val="94A3B8"/>
                </a:solidFill>
              </a:rPr>
              <a:t>A single model trained on step t+1 must forecast 24 consecutive future hours into the future.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Recursive Strategy: </a:t>
            </a:r>
            <a:r>
              <a:rPr sz="1100">
                <a:solidFill>
                  <a:srgbClr val="94A3B8"/>
                </a:solidFill>
              </a:rPr>
              <a:t>Predicted PM2.5 at hour t+1 is iteratively appended to the history buffer to construct lag features for hour t+2.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Buffer Rolling: </a:t>
            </a:r>
            <a:r>
              <a:rPr sz="1100">
                <a:solidFill>
                  <a:srgbClr val="94A3B8"/>
                </a:solidFill>
              </a:rPr>
              <a:t>Lag vector rolls forward dynamically: lag_1 becomes t+1 prediction, lag_24 becomes the prediction from 24 steps prior.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Dynamic Weather Integration: </a:t>
            </a:r>
            <a:r>
              <a:rPr sz="1100">
                <a:solidFill>
                  <a:srgbClr val="94A3B8"/>
                </a:solidFill>
              </a:rPr>
              <a:t>Unlike PM2.5, true future weather variables (Temp, Humidity, Wind) are known via numerical weather models.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Hourly Weather Binding: </a:t>
            </a:r>
            <a:r>
              <a:rPr sz="1100">
                <a:solidFill>
                  <a:srgbClr val="94A3B8"/>
                </a:solidFill>
              </a:rPr>
              <a:t>At each step step_idx in 1..24, exact forecasted weather values for that target hour are injected into the feature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Causal Imputation &amp; Data Cleansing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Historical Boundary Cutoff: </a:t>
            </a:r>
            <a:r>
              <a:rPr sz="1100">
                <a:solidFill>
                  <a:srgbClr val="94A3B8"/>
                </a:solidFill>
              </a:rPr>
              <a:t>Strict isolation: rolling statistics are calculated solely on historical data up to step 0, avoiding future data leakage.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Forward-Fill Imputation: </a:t>
            </a:r>
            <a:r>
              <a:rPr sz="1100">
                <a:solidFill>
                  <a:srgbClr val="94A3B8"/>
                </a:solidFill>
              </a:rPr>
              <a:t>Missing sensor or model gaps are filled using forward-fill (causal past), followed by localized backward-fill.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Non-Negative Enforcement: </a:t>
            </a:r>
            <a:r>
              <a:rPr sz="1100">
                <a:solidFill>
                  <a:srgbClr val="94A3B8"/>
                </a:solidFill>
              </a:rPr>
              <a:t>Physical law enforcement: PM2.5 concentrations cannot be negative. All predictions are clamped at y_pred = max(0.0, y_pred).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Extreme Spike Filtering: </a:t>
            </a:r>
            <a:r>
              <a:rPr sz="1100">
                <a:solidFill>
                  <a:srgbClr val="94A3B8"/>
                </a:solidFill>
              </a:rPr>
              <a:t>Anomalous sensor spikes exceeding physiological physics limits (&gt;1,500 µg/m³) are capped to protect tree splitting.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Validation: </a:t>
            </a:r>
            <a:r>
              <a:rPr sz="1100">
                <a:solidFill>
                  <a:srgbClr val="94A3B8"/>
                </a:solidFill>
              </a:rPr>
              <a:t>Tested against chronological time-series cross-validation without temporal shuffle.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11. Split Conformal Prediction (90% Confidence Bands)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Split Conformal Prediction Theory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Why Conformal Prediction?: </a:t>
            </a:r>
            <a:r>
              <a:rPr sz="1100">
                <a:solidFill>
                  <a:srgbClr val="94A3B8"/>
                </a:solidFill>
              </a:rPr>
              <a:t>Heuristic standard deviation +/- 1.96*sigma assumes normal Gaussian error distributions, which fails on skewed air pollution data.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Non-Parametric Guarantee: </a:t>
            </a:r>
            <a:r>
              <a:rPr sz="1100">
                <a:solidFill>
                  <a:srgbClr val="94A3B8"/>
                </a:solidFill>
              </a:rPr>
              <a:t>Conformal prediction provides a mathematically proven, distribution-free guarantee of empirical coverage.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Calibration Set: </a:t>
            </a:r>
            <a:r>
              <a:rPr sz="1100">
                <a:solidFill>
                  <a:srgbClr val="94A3B8"/>
                </a:solidFill>
              </a:rPr>
              <a:t>Past 168 hours (7 days) of historical observations are held out as a strict calibration set D_cal.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Non-Conformity Score: </a:t>
            </a:r>
            <a:r>
              <a:rPr sz="1100">
                <a:solidFill>
                  <a:srgbClr val="94A3B8"/>
                </a:solidFill>
              </a:rPr>
              <a:t>Computes absolute residual errors: R_i = |y_i - y_pred_i| for all observations in calibration set.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Quantile Calculation: </a:t>
            </a:r>
            <a:r>
              <a:rPr sz="1100">
                <a:solidFill>
                  <a:srgbClr val="94A3B8"/>
                </a:solidFill>
              </a:rPr>
              <a:t>Finds the 90th percentile non-conformity score: q_hat = Quantile(R, ceil((n+1)*(1 - alpha)) / n), where alpha = 0.10.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Horizontally Expanding Prediction Bands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Horizon Scaling: </a:t>
            </a:r>
            <a:r>
              <a:rPr sz="1100">
                <a:solidFill>
                  <a:srgbClr val="94A3B8"/>
                </a:solidFill>
              </a:rPr>
              <a:t>Forecast uncertainty inherently increases with time. Step 24 is more uncertain than Step 1.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Expansion Formula: </a:t>
            </a:r>
            <a:r>
              <a:rPr sz="1100">
                <a:solidFill>
                  <a:srgbClr val="94A3B8"/>
                </a:solidFill>
              </a:rPr>
              <a:t>half_width_t = q_hat * sqrt(1 + 0.04 * step_idx), for step_idx = 1, 2, ..., 24.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Lower Bound: </a:t>
            </a:r>
            <a:r>
              <a:rPr sz="1100">
                <a:solidFill>
                  <a:srgbClr val="94A3B8"/>
                </a:solidFill>
              </a:rPr>
              <a:t>lower_t = max(0.0, y_pred_t - half_width_t) (PM2.5 cannot drop below 0).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Upper Bound: </a:t>
            </a:r>
            <a:r>
              <a:rPr sz="1100">
                <a:solidFill>
                  <a:srgbClr val="94A3B8"/>
                </a:solidFill>
              </a:rPr>
              <a:t>upper_t = y_pred_t + half_width_t.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Fallback Handling: </a:t>
            </a:r>
            <a:r>
              <a:rPr sz="1100">
                <a:solidFill>
                  <a:srgbClr val="94A3B8"/>
                </a:solidFill>
              </a:rPr>
              <a:t>If calibration samples &lt; 24 (sparse data), smoothly defaults to 1.645 * standard_deviation heuristic with logging.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Visualization: </a:t>
            </a:r>
            <a:r>
              <a:rPr sz="1100">
                <a:solidFill>
                  <a:srgbClr val="94A3B8"/>
                </a:solidFill>
              </a:rPr>
              <a:t>Rendered as a smooth semi-transparent shaded SVG confidence band in Recharts.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12. ML Model Benchmark: XGBoost vs Persistence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Evaluation Protocol &amp; Methodology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Script: </a:t>
            </a:r>
            <a:r>
              <a:rPr sz="1100">
                <a:solidFill>
                  <a:srgbClr val="94A3B8"/>
                </a:solidFill>
              </a:rPr>
              <a:t>backend/evaluate_model.py chronologically evaluates 24-hour forecasts across 5 distinct global climate zones.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Test Locations: </a:t>
            </a:r>
            <a:r>
              <a:rPr sz="1100">
                <a:solidFill>
                  <a:srgbClr val="94A3B8"/>
                </a:solidFill>
              </a:rPr>
              <a:t>New Delhi (Subtropical/Arid), Beijing (Continental Monsoon), London (Temperate Oceanic), New York (Humid Continental), Tokyo (Humid Subtropical).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Baseline: </a:t>
            </a:r>
            <a:r>
              <a:rPr sz="1100">
                <a:solidFill>
                  <a:srgbClr val="94A3B8"/>
                </a:solidFill>
              </a:rPr>
              <a:t>Persistence Baseline (predicts future 24h equal to last observed value y_t).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Metrics: </a:t>
            </a:r>
            <a:r>
              <a:rPr sz="1100">
                <a:solidFill>
                  <a:srgbClr val="94A3B8"/>
                </a:solidFill>
              </a:rPr>
              <a:t>Mean Absolute Error (MAE), Root Mean Squared Error (RMSE), Mean Absolute Percentage Error (MAPE), Empirical Coverage (%).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Empirical Results &amp; Proven Accuracy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MAE Improvement: </a:t>
            </a:r>
            <a:r>
              <a:rPr sz="1100">
                <a:solidFill>
                  <a:srgbClr val="94A3B8"/>
                </a:solidFill>
              </a:rPr>
              <a:t>XGBoost achieves 32% - 48% reduction in MAE compared to the persistence baseline across all test zones.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Diurnal Tracking: </a:t>
            </a:r>
            <a:r>
              <a:rPr sz="1100">
                <a:solidFill>
                  <a:srgbClr val="94A3B8"/>
                </a:solidFill>
              </a:rPr>
              <a:t>Successfully anticipates evening stagnation peaks and morning dispersion drops driven by wind speed shifts.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Conformal Coverage: </a:t>
            </a:r>
            <a:r>
              <a:rPr sz="1100">
                <a:solidFill>
                  <a:srgbClr val="94A3B8"/>
                </a:solidFill>
              </a:rPr>
              <a:t>Empirical coverage of the 90% prediction interval across all evaluation test sets measured at 91.4% (calibrated).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Latency Benchmark: </a:t>
            </a:r>
            <a:r>
              <a:rPr sz="1100">
                <a:solidFill>
                  <a:srgbClr val="94A3B8"/>
                </a:solidFill>
              </a:rPr>
              <a:t>Average end-to-end execution time: 1.18 seconds per training and 24h inference run.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Conclusion: </a:t>
            </a:r>
            <a:r>
              <a:rPr sz="1100">
                <a:solidFill>
                  <a:srgbClr val="94A3B8"/>
                </a:solidFill>
              </a:rPr>
              <a:t>Model statistically outperforms trivial persistence with valid conformal intervals.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FRONTEND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13. React 18, TypeScript, Vite &amp; Modular Component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Core Stack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React 18: </a:t>
            </a:r>
            <a:r>
              <a:rPr sz="1100">
                <a:solidFill>
                  <a:srgbClr val="94A3B8"/>
                </a:solidFill>
              </a:rPr>
              <a:t>Functional component architecture utilizing hooks (useState, useEffect, useRef, useCallback, useMemo).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TypeScript: </a:t>
            </a:r>
            <a:r>
              <a:rPr sz="1100">
                <a:solidFill>
                  <a:srgbClr val="94A3B8"/>
                </a:solidFill>
              </a:rPr>
              <a:t>Strict type checking with types.ts interface definitions covering API contracts, telemetry, and forecasts.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Vite 5: </a:t>
            </a:r>
            <a:r>
              <a:rPr sz="1100">
                <a:solidFill>
                  <a:srgbClr val="94A3B8"/>
                </a:solidFill>
              </a:rPr>
              <a:t>Next-generation ESM development server and Rollup production bundler with sub-second HMR.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Tailwind CSS: </a:t>
            </a:r>
            <a:r>
              <a:rPr sz="1100">
                <a:solidFill>
                  <a:srgbClr val="94A3B8"/>
                </a:solidFill>
              </a:rPr>
              <a:t>Utility-first CSS styling with glassmorphism, responsive flex/grid layouts, and custom palette.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Component Hierarchy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App.tsx: </a:t>
            </a:r>
            <a:r>
              <a:rPr sz="1100">
                <a:solidFill>
                  <a:srgbClr val="94A3B8"/>
                </a:solidFill>
              </a:rPr>
              <a:t>Central state orchestrator coordinating API calls, coordinates, errors, and loading states.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SearchBar.tsx: </a:t>
            </a:r>
            <a:r>
              <a:rPr sz="1100">
                <a:solidFill>
                  <a:srgbClr val="94A3B8"/>
                </a:solidFill>
              </a:rPr>
              <a:t>Debounced search input querying Nominatim with quick-preset pill buttons.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AirMap.tsx: </a:t>
            </a:r>
            <a:r>
              <a:rPr sz="1100">
                <a:solidFill>
                  <a:srgbClr val="94A3B8"/>
                </a:solidFill>
              </a:rPr>
              <a:t>Leaflet interactive map with custom dark tiles, click-to-query pin, and popups.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PollutantCards.tsx: </a:t>
            </a:r>
            <a:r>
              <a:rPr sz="1100">
                <a:solidFill>
                  <a:srgbClr val="94A3B8"/>
                </a:solidFill>
              </a:rPr>
              <a:t>Displays 6 criteria pollutants, overall US AQI card, and freshness timestamp.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Visualization &amp; Advisory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TrendChart.tsx: </a:t>
            </a:r>
            <a:r>
              <a:rPr sz="1100">
                <a:solidFill>
                  <a:srgbClr val="94A3B8"/>
                </a:solidFill>
              </a:rPr>
              <a:t>7-day multi-pollutant interactive time-series chart with WHO/EPA benchmark lines.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ForecastChart.tsx: </a:t>
            </a:r>
            <a:r>
              <a:rPr sz="1100">
                <a:solidFill>
                  <a:srgbClr val="94A3B8"/>
                </a:solidFill>
              </a:rPr>
              <a:t>24-hour predictive chart with shaded Conformal 90% prediction intervals.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Recommendations.tsx: </a:t>
            </a:r>
            <a:r>
              <a:rPr sz="1100">
                <a:solidFill>
                  <a:srgbClr val="94A3B8"/>
                </a:solidFill>
              </a:rPr>
              <a:t>Deterministic category-specific health advisories across 6 activity categories.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Lucide React: </a:t>
            </a:r>
            <a:r>
              <a:rPr sz="1100">
                <a:solidFill>
                  <a:srgbClr val="94A3B8"/>
                </a:solidFill>
              </a:rPr>
              <a:t>Lightweight SVG icons for atmospheric conditions, navigation, and UI state indicators.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FRONTEND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14. Integration Protocol, Request Cancellation &amp; Race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Environment Resolution &amp; CORS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Base URL Resolution: </a:t>
            </a:r>
            <a:r>
              <a:rPr sz="1100">
                <a:solidFill>
                  <a:srgbClr val="94A3B8"/>
                </a:solidFill>
              </a:rPr>
              <a:t>config.ts resolves API base URL via import.meta.env.VITE_API_URL or defaults to localhost:8000 in dev.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Production Binding: </a:t>
            </a:r>
            <a:r>
              <a:rPr sz="1100">
                <a:solidFill>
                  <a:srgbClr val="94A3B8"/>
                </a:solidFill>
              </a:rPr>
              <a:t>.env.production injects https://aerotrack-backend-1tlt.onrender.com directly into Vite bundle.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CORS Pre-Flight: </a:t>
            </a:r>
            <a:r>
              <a:rPr sz="1100">
                <a:solidFill>
                  <a:srgbClr val="94A3B8"/>
                </a:solidFill>
              </a:rPr>
              <a:t>FastAPI validates origin headers against ALLOWED_ORIGINS whitelist, enabling secure cross-origin communication.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Independent Pipeline Calls: </a:t>
            </a:r>
            <a:r>
              <a:rPr sz="1100">
                <a:solidFill>
                  <a:srgbClr val="94A3B8"/>
                </a:solidFill>
              </a:rPr>
              <a:t>fetchAllData fires 3 isolated promises: pAirQuality (~200ms), pTrends (~350ms), pForecast (~1.2s).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Progressive Rendering: </a:t>
            </a:r>
            <a:r>
              <a:rPr sz="1100">
                <a:solidFill>
                  <a:srgbClr val="94A3B8"/>
                </a:solidFill>
              </a:rPr>
              <a:t>Live telemetry displays immediately without waiting for the slower ML forecast to finish.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Race Condition &amp; Cancellation Protection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Problem: </a:t>
            </a:r>
            <a:r>
              <a:rPr sz="1100">
                <a:solidFill>
                  <a:srgbClr val="94A3B8"/>
                </a:solidFill>
              </a:rPr>
              <a:t>If user clicks City A then quickly clicks City B, City A's slower ML response could arrive after City B, corrupting UI state.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AbortController Signal: </a:t>
            </a:r>
            <a:r>
              <a:rPr sz="1100">
                <a:solidFill>
                  <a:srgbClr val="94A3B8"/>
                </a:solidFill>
              </a:rPr>
              <a:t>Every new query cancels preceding in-flight HTTP requests: abortControllerRef.current.abort().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Request ID Tracking (reqIdRef): </a:t>
            </a:r>
            <a:r>
              <a:rPr sz="1100">
                <a:solidFill>
                  <a:srgbClr val="94A3B8"/>
                </a:solidFill>
              </a:rPr>
              <a:t>Each query increments a monotonic request ID: currentReqId = ++reqIdRef.current.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Guard Clause: </a:t>
            </a:r>
            <a:r>
              <a:rPr sz="1100">
                <a:solidFill>
                  <a:srgbClr val="94A3B8"/>
                </a:solidFill>
              </a:rPr>
              <a:t>When a promise resolves, it checks: if (reqIdRef.current !== currentReqId) return; - immediately discarding stale data.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Result: </a:t>
            </a:r>
            <a:r>
              <a:rPr sz="1100">
                <a:solidFill>
                  <a:srgbClr val="94A3B8"/>
                </a:solidFill>
              </a:rPr>
              <a:t>Guarantees UI reflects the exact location most recently selected by the user, with zero visual flicker or corrupted state.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15. UI Components: AirMap, PollutantCards &amp; 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AirMap &amp; PollutantCards Features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Interactive Leaflet Map: </a:t>
            </a:r>
            <a:r>
              <a:rPr sz="1100">
                <a:solidFill>
                  <a:srgbClr val="94A3B8"/>
                </a:solidFill>
              </a:rPr>
              <a:t>Renders OpenStreetMap cartography, supports pan/zoom, GPS geolocation button, and click event listeners.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Click-to-Query Telemetry: </a:t>
            </a:r>
            <a:r>
              <a:rPr sz="1100">
                <a:solidFill>
                  <a:srgbClr val="94A3B8"/>
                </a:solidFill>
              </a:rPr>
              <a:t>Clicking any point grabs lat/lon, invokes reverse geocoding for city name, and re-triggers full telemetry pipeline.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Primary AQI Card: </a:t>
            </a:r>
            <a:r>
              <a:rPr sz="1100">
                <a:solidFill>
                  <a:srgbClr val="94A3B8"/>
                </a:solidFill>
              </a:rPr>
              <a:t>Prominently displays composite US AQI score, health category banner, and data freshness timestamp ('Data from: Oct 10, 5:30 PM').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EPA Capped Badge: </a:t>
            </a:r>
            <a:r>
              <a:rPr sz="1100">
                <a:solidFill>
                  <a:srgbClr val="94A3B8"/>
                </a:solidFill>
              </a:rPr>
              <a:t>If raw upstream AQI exceeds 500, displays amber 'EPA Scale Max (Capped at 500)' badge.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6 Pollutant Cards: </a:t>
            </a:r>
            <a:r>
              <a:rPr sz="1100">
                <a:solidFill>
                  <a:srgbClr val="94A3B8"/>
                </a:solidFill>
              </a:rPr>
              <a:t>Grid displaying PM2.5, PM10, NO2, SO2, O3, CO with category color-coded borders (Good to Hazardous).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TrendChart, ForecastChart &amp; Advisories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TrendChart (7-Day): </a:t>
            </a:r>
            <a:r>
              <a:rPr sz="1100">
                <a:solidFill>
                  <a:srgbClr val="94A3B8"/>
                </a:solidFill>
              </a:rPr>
              <a:t>Toggleable criteria pollutants, custom hover tooltips, and constant WHO (15 µg/m³) and EPA (35.5 µg/m³) threshold lines.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ForecastChart (24h): </a:t>
            </a:r>
            <a:r>
              <a:rPr sz="1100">
                <a:solidFill>
                  <a:srgbClr val="94A3B8"/>
                </a:solidFill>
              </a:rPr>
              <a:t>Displays predicted trajectory with shaded conformal uncertainty band; displays peak pollution hour badge.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Demo Fallback Mode: </a:t>
            </a:r>
            <a:r>
              <a:rPr sz="1100">
                <a:solidFill>
                  <a:srgbClr val="94A3B8"/>
                </a:solidFill>
              </a:rPr>
              <a:t>Opt-in button allows generating simulated forecast for demonstration if upstream historical data is insufficient.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Health Advisories: </a:t>
            </a:r>
            <a:r>
              <a:rPr sz="1100">
                <a:solidFill>
                  <a:srgbClr val="94A3B8"/>
                </a:solidFill>
              </a:rPr>
              <a:t>Rule-based matrix determines recommendations for Sensitive Groups, Outdoor Exercise, Windows, Masks, and Air Purifiers.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Responsive Layout: </a:t>
            </a:r>
            <a:r>
              <a:rPr sz="1100">
                <a:solidFill>
                  <a:srgbClr val="94A3B8"/>
                </a:solidFill>
              </a:rPr>
              <a:t>Fully fluid responsive layout supporting desktop, tablet, and mobile screen viewports.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COMMANDS HANDBOOK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16. Complete CLI Commands: Environment, Build &amp;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Backend CLI Commands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Create Virtual Env: </a:t>
            </a:r>
            <a:r>
              <a:rPr sz="1100">
                <a:solidFill>
                  <a:srgbClr val="94A3B8"/>
                </a:solidFill>
              </a:rPr>
              <a:t>python -m venv venv (Windows: .\venv\Scripts\Activate.ps1 | Linux: source venv/bin/activate)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Install Dependencies: </a:t>
            </a:r>
            <a:r>
              <a:rPr sz="1100">
                <a:solidFill>
                  <a:srgbClr val="94A3B8"/>
                </a:solidFill>
              </a:rPr>
              <a:t>pip install -r requirements.txt (fastapi, uvicorn, httpx, pandas, numpy, scikit-learn, xgboost)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Run Dev Server: </a:t>
            </a:r>
            <a:r>
              <a:rPr sz="1100">
                <a:solidFill>
                  <a:srgbClr val="94A3B8"/>
                </a:solidFill>
              </a:rPr>
              <a:t>python -m uvicorn backend.main:app --host 127.0.0.1 --port 8000 --reload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Run Test Suite: </a:t>
            </a:r>
            <a:r>
              <a:rPr sz="1100">
                <a:solidFill>
                  <a:srgbClr val="94A3B8"/>
                </a:solidFill>
              </a:rPr>
              <a:t>pytest backend/tests/ -v --asyncio-mode=auto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Run ML Evaluation: </a:t>
            </a:r>
            <a:r>
              <a:rPr sz="1100">
                <a:solidFill>
                  <a:srgbClr val="94A3B8"/>
                </a:solidFill>
              </a:rPr>
              <a:t>python backend/evaluate_model.py (benchmark model vs baseline)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Clear Cache Route: </a:t>
            </a:r>
            <a:r>
              <a:rPr sz="1100">
                <a:solidFill>
                  <a:srgbClr val="94A3B8"/>
                </a:solidFill>
              </a:rPr>
              <a:t>curl -s http://127.0.0.1:8000/api/admin/clear-cache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Frontend &amp; Git Deployment Commands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Install Node Packages: </a:t>
            </a:r>
            <a:r>
              <a:rPr sz="1100">
                <a:solidFill>
                  <a:srgbClr val="94A3B8"/>
                </a:solidFill>
              </a:rPr>
              <a:t>cd frontend &amp;&amp; npm install (react, leaflet, recharts, lucide-react, axios, tailwindcss)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Run Dev Frontend: </a:t>
            </a:r>
            <a:r>
              <a:rPr sz="1100">
                <a:solidFill>
                  <a:srgbClr val="94A3B8"/>
                </a:solidFill>
              </a:rPr>
              <a:t>npm run dev (serves SPA at http://localhost:5173)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Typecheck &amp; Build: </a:t>
            </a:r>
            <a:r>
              <a:rPr sz="1100">
                <a:solidFill>
                  <a:srgbClr val="94A3B8"/>
                </a:solidFill>
              </a:rPr>
              <a:t>npm run build (runs tsc &amp;&amp; vite build -&gt; compiles output into dist/)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Git Status &amp; Commit: </a:t>
            </a:r>
            <a:r>
              <a:rPr sz="1100">
                <a:solidFill>
                  <a:srgbClr val="94A3B8"/>
                </a:solidFill>
              </a:rPr>
              <a:t>git status &amp;&amp; git add . &amp;&amp; git commit -m 'feat: ...'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Git Push to Remote: </a:t>
            </a:r>
            <a:r>
              <a:rPr sz="1100">
                <a:solidFill>
                  <a:srgbClr val="94A3B8"/>
                </a:solidFill>
              </a:rPr>
              <a:t>git push origin main (triggers automatic deployments on Vercel and Render)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Curl API Verification: </a:t>
            </a:r>
            <a:r>
              <a:rPr sz="1100">
                <a:solidFill>
                  <a:srgbClr val="94A3B8"/>
                </a:solidFill>
              </a:rPr>
              <a:t>curl -s https://aerotrack-backend-1tlt.onrender.com/api/health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CODE INTEGRATION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17. Codebase Directory: What, Where and Why Every File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Backend File Directory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backend/main.py: </a:t>
            </a:r>
            <a:r>
              <a:rPr sz="1100">
                <a:solidFill>
                  <a:srgbClr val="94A3B8"/>
                </a:solidFill>
              </a:rPr>
              <a:t>WHERE: Core API gateway. WHAT: 8 FastAPI endpoints, AQI calculator, 2-tier caches, reverse geocoding. WHY: Central hub for telemetry.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backend/ml_model.py: </a:t>
            </a:r>
            <a:r>
              <a:rPr sz="1100">
                <a:solidFill>
                  <a:srgbClr val="94A3B8"/>
                </a:solidFill>
              </a:rPr>
              <a:t>WHERE: Machine learning engine. WHAT: XGBoost regressor, feature engineering, autoregressive loop, conformal intervals. WHY: On-demand 24h forecasting.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backend/evaluate_model.py: </a:t>
            </a:r>
            <a:r>
              <a:rPr sz="1100">
                <a:solidFill>
                  <a:srgbClr val="94A3B8"/>
                </a:solidFill>
              </a:rPr>
              <a:t>WHERE: Model evaluation. WHAT: Empirical benchmark script comparing XGBoost vs persistence across 5 cities. WHY: Scientific accuracy validation.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backend/tests/: </a:t>
            </a:r>
            <a:r>
              <a:rPr sz="1100">
                <a:solidFill>
                  <a:srgbClr val="94A3B8"/>
                </a:solidFill>
              </a:rPr>
              <a:t>WHERE: Unit &amp; regression tests. WHAT: 5 pytest suites testing endpoints, AQI capping, cache clearing, intervals. WHY: Prevents regression bugs.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Frontend File Directory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frontend/src/App.tsx: </a:t>
            </a:r>
            <a:r>
              <a:rPr sz="1100">
                <a:solidFill>
                  <a:srgbClr val="94A3B8"/>
                </a:solidFill>
              </a:rPr>
              <a:t>WHERE: Root component. WHAT: State management, parallel Axios pipeline, request cancellation, layout. WHY: Core app orchestrator.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frontend/src/types.ts: </a:t>
            </a:r>
            <a:r>
              <a:rPr sz="1100">
                <a:solidFill>
                  <a:srgbClr val="94A3B8"/>
                </a:solidFill>
              </a:rPr>
              <a:t>WHERE: Type definitions. WHAT: TypeScript interfaces for telemetry, pollutants, forecasts, search. WHY: Type safety across frontend.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frontend/src/components/AirMap.tsx: </a:t>
            </a:r>
            <a:r>
              <a:rPr sz="1100">
                <a:solidFill>
                  <a:srgbClr val="94A3B8"/>
                </a:solidFill>
              </a:rPr>
              <a:t>WHERE: Map module. WHAT: Leaflet map, GPS pin, click handler. WHY: Spatial visualization.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frontend/src/components/PollutantCards.tsx: </a:t>
            </a:r>
            <a:r>
              <a:rPr sz="1100">
                <a:solidFill>
                  <a:srgbClr val="94A3B8"/>
                </a:solidFill>
              </a:rPr>
              <a:t>WHERE: Card grid. WHAT: Criteria pollutant displays, capped indicator, freshness timestamp. WHY: Real-time telemetry presentation.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frontend/src/components/ForecastChart.tsx: </a:t>
            </a:r>
            <a:r>
              <a:rPr sz="1100">
                <a:solidFill>
                  <a:srgbClr val="94A3B8"/>
                </a:solidFill>
              </a:rPr>
              <a:t>WHERE: Forecast view. WHAT: Recharts SVG chart with shaded uncertainty band. WHY: Visualizes 24h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PRODUCTION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18. Deployment Pipeline: Render, Vercel &amp; Keep-Alive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Hosting Infrastructure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Frontend: Vercel: </a:t>
            </a:r>
            <a:r>
              <a:rPr sz="1100">
                <a:solidFill>
                  <a:srgbClr val="94A3B8"/>
                </a:solidFill>
              </a:rPr>
              <a:t>Connected directly to GitHub repository; builds upon push to main via npm run build. Globally distributed on edge CDN nodes.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Backend: Render: </a:t>
            </a:r>
            <a:r>
              <a:rPr sz="1100">
                <a:solidFill>
                  <a:srgbClr val="94A3B8"/>
                </a:solidFill>
              </a:rPr>
              <a:t>Dockerized Python Web Service running uvicorn main:app. Rebuilds automatically on pushes affecting backend/ directory.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Keep-Alive: UptimeRobot: </a:t>
            </a:r>
            <a:r>
              <a:rPr sz="1100">
                <a:solidFill>
                  <a:srgbClr val="94A3B8"/>
                </a:solidFill>
              </a:rPr>
              <a:t>Render free tier suspends idle containers after 15 mins. Configured UptimeRobot HTTP monitor pings /api/health every 5 minutes 24/7.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Cold-Start Prevention: </a:t>
            </a:r>
            <a:r>
              <a:rPr sz="1100">
                <a:solidFill>
                  <a:srgbClr val="94A3B8"/>
                </a:solidFill>
              </a:rPr>
              <a:t>Because UptimeRobot pings continuously, the server never sleeps. Users experience instantaneous sub-second response times.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Health Endpoint: </a:t>
            </a:r>
            <a:r>
              <a:rPr sz="1100">
                <a:solidFill>
                  <a:srgbClr val="94A3B8"/>
                </a:solidFill>
              </a:rPr>
              <a:t>FastAPI /api/health executes with zero external dependencies, responding in &lt;5ms without incurring cloud egress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Monorepo Build Watchers &amp; Edge Caching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Monorepo Root Directory: </a:t>
            </a:r>
            <a:r>
              <a:rPr sz="1100">
                <a:solidFill>
                  <a:srgbClr val="94A3B8"/>
                </a:solidFill>
              </a:rPr>
              <a:t>Vercel configured with Root Directory = frontend; Render configured with Root Directory = backend.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The Build Trigger Caveat: </a:t>
            </a:r>
            <a:r>
              <a:rPr sz="1100">
                <a:solidFill>
                  <a:srgbClr val="94A3B8"/>
                </a:solidFill>
              </a:rPr>
              <a:t>Commits must touch files within the respective directory for webhooks to trigger automatic rebuilds.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Force Push Caveat: </a:t>
            </a:r>
            <a:r>
              <a:rPr sz="1100">
                <a:solidFill>
                  <a:srgbClr val="94A3B8"/>
                </a:solidFill>
              </a:rPr>
              <a:t>Git force-pushes (git push -f) can be skipped by deployment watchers; new clean commits ensure reliable rebuild triggers.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Vite Asset Hashing: </a:t>
            </a:r>
            <a:r>
              <a:rPr sz="1100">
                <a:solidFill>
                  <a:srgbClr val="94A3B8"/>
                </a:solidFill>
              </a:rPr>
              <a:t>Vite bundles JS/CSS with content hashes (e.g. index-D1RQwuy4.css) to guarantee immediate cache-invalidation upon release.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Production URLs: </a:t>
            </a:r>
            <a:r>
              <a:rPr sz="1100">
                <a:solidFill>
                  <a:srgbClr val="94A3B8"/>
                </a:solidFill>
              </a:rPr>
              <a:t>Live App: https://aerotrack-three.vercel.app | Live API: https://aerotrack-backend-1tlt.onrender.com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19. Real-World Engineering Bugs Solved &amp; Senior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Critical Bugs Solved in this Project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1. The &gt;500 AQI Bug: </a:t>
            </a:r>
            <a:r>
              <a:rPr sz="1100">
                <a:solidFill>
                  <a:srgbClr val="94A3B8"/>
                </a:solidFill>
              </a:rPr>
              <a:t>SOLVED: Upstream Open-Meteo linearly extrapolated beyond EPA table. Fixed by clamping us_aqi at 500 and adding UI capped badge.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2. Stale AQI Perception: </a:t>
            </a:r>
            <a:r>
              <a:rPr sz="1100">
                <a:solidFill>
                  <a:srgbClr val="94A3B8"/>
                </a:solidFill>
              </a:rPr>
              <a:t>SOLVED: Composite AQI appeared stuck at 156 because worst pollutant bracket stayed constant. Fixed by exposing exact sensor timestamp in UI.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3. Event Loop Freezing: </a:t>
            </a:r>
            <a:r>
              <a:rPr sz="1100">
                <a:solidFill>
                  <a:srgbClr val="94A3B8"/>
                </a:solidFill>
              </a:rPr>
              <a:t>SOLVED: Heavy XGBoost matrix math froze async FastAPI server. Fixed by offloading training to ThreadPoolExecutor.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4. Race Conditions on Fast Clicks: </a:t>
            </a:r>
            <a:r>
              <a:rPr sz="1100">
                <a:solidFill>
                  <a:srgbClr val="94A3B8"/>
                </a:solidFill>
              </a:rPr>
              <a:t>SOLVED: Multiple clicks caused stale data overwrites. Fixed via AbortController cancellation and reqId monotonic guards.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5. Windows PowerShell Encoding: </a:t>
            </a:r>
            <a:r>
              <a:rPr sz="1100">
                <a:solidFill>
                  <a:srgbClr val="94A3B8"/>
                </a:solidFill>
              </a:rPr>
              <a:t>SOLVED: PowerShell &gt;&gt; redirection secretly wrote UTF-16, corrupting README. Fixed by enforcing pure UTF-8 encoding.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1E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Architectural Lessons: Ground vs Satellite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Modeled vs Ground Truth: </a:t>
            </a:r>
            <a:r>
              <a:rPr sz="1100">
                <a:solidFill>
                  <a:srgbClr val="94A3B8"/>
                </a:solidFill>
              </a:rPr>
              <a:t>Global atmospheric models (Open-Meteo CAMS) provide universal 100% global coverage, but can overestimate localized dust spikes.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Ground Sensor Networks (WAQI): </a:t>
            </a:r>
            <a:r>
              <a:rPr sz="1100">
                <a:solidFill>
                  <a:srgbClr val="94A3B8"/>
                </a:solidFill>
              </a:rPr>
              <a:t>Physical stations (CPCB) provide exact ground truth, but have zero coverage in rural regions and suffer network timeouts.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Architectural Decision: </a:t>
            </a:r>
            <a:r>
              <a:rPr sz="1100">
                <a:solidFill>
                  <a:srgbClr val="94A3B8"/>
                </a:solidFill>
              </a:rPr>
              <a:t>AeroTrack's pure Open-Meteo architecture ensures universal global reliability without breaking in unsensored areas.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Production Reliability: </a:t>
            </a:r>
            <a:r>
              <a:rPr sz="1100">
                <a:solidFill>
                  <a:srgbClr val="94A3B8"/>
                </a:solidFill>
              </a:rPr>
              <a:t>Zero-dependency health routes, Conformal intervals, and aggressive two-tier caching create an enterprise-grade experience.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8FAFC"/>
                </a:solidFill>
              </a:rPr>
              <a:t>Final Deliverable: </a:t>
            </a:r>
            <a:r>
              <a:rPr sz="1100">
                <a:solidFill>
                  <a:srgbClr val="94A3B8"/>
                </a:solidFill>
              </a:rPr>
              <a:t>A robust, fully tested, scientifically verified full-stack AI platform ready for production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